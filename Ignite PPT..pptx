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456" r:id="rId5"/>
    <p:sldId id="513" r:id="rId6"/>
    <p:sldId id="470" r:id="rId7"/>
    <p:sldId id="502" r:id="rId8"/>
    <p:sldId id="503" r:id="rId9"/>
    <p:sldId id="518" r:id="rId10"/>
    <p:sldId id="517" r:id="rId11"/>
    <p:sldId id="507" r:id="rId12"/>
    <p:sldId id="457" r:id="rId13"/>
  </p:sldIdLst>
  <p:sldSz cx="12188825" cy="6858000"/>
  <p:notesSz cx="6858000" cy="9947275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119"/>
    <a:srgbClr val="424342"/>
    <a:srgbClr val="55B775"/>
    <a:srgbClr val="555375"/>
    <a:srgbClr val="0779B7"/>
    <a:srgbClr val="F59321"/>
    <a:srgbClr val="ED7D31"/>
    <a:srgbClr val="F59120"/>
    <a:srgbClr val="E2E2E4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 autoAdjust="0"/>
    <p:restoredTop sz="88282" autoAdjust="0"/>
  </p:normalViewPr>
  <p:slideViewPr>
    <p:cSldViewPr showGuides="1">
      <p:cViewPr>
        <p:scale>
          <a:sx n="66" d="100"/>
          <a:sy n="66" d="100"/>
        </p:scale>
        <p:origin x="-882" y="-7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99091"/>
          </a:xfrm>
          <a:prstGeom prst="rect">
            <a:avLst/>
          </a:prstGeom>
        </p:spPr>
        <p:txBody>
          <a:bodyPr vert="horz" lIns="93491" tIns="46745" rIns="93491" bIns="46745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4" y="0"/>
            <a:ext cx="2971800" cy="499091"/>
          </a:xfrm>
          <a:prstGeom prst="rect">
            <a:avLst/>
          </a:prstGeom>
        </p:spPr>
        <p:txBody>
          <a:bodyPr vert="horz" lIns="93491" tIns="46745" rIns="93491" bIns="46745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10/30/2025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8186"/>
            <a:ext cx="2971800" cy="499089"/>
          </a:xfrm>
          <a:prstGeom prst="rect">
            <a:avLst/>
          </a:prstGeom>
        </p:spPr>
        <p:txBody>
          <a:bodyPr vert="horz" lIns="93491" tIns="46745" rIns="93491" bIns="46745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4" y="9448186"/>
            <a:ext cx="2971800" cy="499089"/>
          </a:xfrm>
          <a:prstGeom prst="rect">
            <a:avLst/>
          </a:prstGeom>
        </p:spPr>
        <p:txBody>
          <a:bodyPr vert="horz" lIns="93491" tIns="46745" rIns="93491" bIns="46745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800" cy="497364"/>
          </a:xfrm>
          <a:prstGeom prst="rect">
            <a:avLst/>
          </a:prstGeom>
        </p:spPr>
        <p:txBody>
          <a:bodyPr vert="horz" lIns="93491" tIns="46745" rIns="93491" bIns="46745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0"/>
            <a:ext cx="2971800" cy="497364"/>
          </a:xfrm>
          <a:prstGeom prst="rect">
            <a:avLst/>
          </a:prstGeom>
        </p:spPr>
        <p:txBody>
          <a:bodyPr vert="horz" lIns="93491" tIns="46745" rIns="93491" bIns="46745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10/30/2025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" y="746125"/>
            <a:ext cx="6629400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1" tIns="46745" rIns="93491" bIns="46745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957"/>
            <a:ext cx="5486400" cy="4476274"/>
          </a:xfrm>
          <a:prstGeom prst="rect">
            <a:avLst/>
          </a:prstGeom>
        </p:spPr>
        <p:txBody>
          <a:bodyPr vert="horz" lIns="93491" tIns="46745" rIns="93491" bIns="46745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8186"/>
            <a:ext cx="2971800" cy="497364"/>
          </a:xfrm>
          <a:prstGeom prst="rect">
            <a:avLst/>
          </a:prstGeom>
        </p:spPr>
        <p:txBody>
          <a:bodyPr vert="horz" lIns="93491" tIns="46745" rIns="93491" bIns="46745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9448186"/>
            <a:ext cx="2971800" cy="497364"/>
          </a:xfrm>
          <a:prstGeom prst="rect">
            <a:avLst/>
          </a:prstGeom>
        </p:spPr>
        <p:txBody>
          <a:bodyPr vert="horz" lIns="93491" tIns="46745" rIns="93491" bIns="46745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Please keep the title brief and specific. You may place relevant graphics/images on the slide; a project picture would be preferred.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the stage with storytelling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it easy to understand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into the future</a:t>
            </a:r>
          </a:p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1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6750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organization, (name of company</a:t>
            </a:r>
            <a:r>
              <a:rPr lang="en-US" dirty="0" smtClean="0"/>
              <a:t>)”]</a:t>
            </a:r>
          </a:p>
          <a:p>
            <a:r>
              <a:rPr lang="en-US" dirty="0" smtClean="0"/>
              <a:t>to </a:t>
            </a:r>
            <a:r>
              <a:rPr lang="en-US" dirty="0"/>
              <a:t>help	    (target audience)       [identify demographics e.g. “women age between 25 to 35 years”, “system administrators at small technology businesses”]</a:t>
            </a:r>
          </a:p>
          <a:p>
            <a:r>
              <a:rPr lang="en-US" dirty="0"/>
              <a:t>	    (solve a problem)       [specify your market e.g. “reduce the time collecting bill payments”]</a:t>
            </a:r>
          </a:p>
          <a:p>
            <a:r>
              <a:rPr lang="en-US" dirty="0"/>
              <a:t>	    (with secret sauce)     [clarify the buyer e.g. "by sending automated email alerts based on analysis of highest response times"]</a:t>
            </a:r>
          </a:p>
          <a:p>
            <a:r>
              <a:rPr lang="en-US" b="1" dirty="0"/>
              <a:t>Ref: https://fi.co/madlibs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2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57323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EdTech, Fintech, </a:t>
            </a:r>
            <a:r>
              <a:rPr lang="en-US" dirty="0" err="1"/>
              <a:t>HealthTech</a:t>
            </a:r>
            <a:r>
              <a:rPr lang="en-US" dirty="0"/>
              <a:t>, Agri/</a:t>
            </a:r>
            <a:r>
              <a:rPr lang="en-US" dirty="0" err="1"/>
              <a:t>ClimateTech</a:t>
            </a:r>
            <a:r>
              <a:rPr lang="en-US" dirty="0"/>
              <a:t>, </a:t>
            </a:r>
            <a:r>
              <a:rPr lang="en-US" dirty="0" err="1"/>
              <a:t>GovTech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3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139348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is the problem you are trying to solve? Be Specific.</a:t>
            </a:r>
            <a:r>
              <a:rPr lang="en-US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Infographics may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4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32681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your solution to the problem?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relevant image/graphic describing the product would be preferred IF ANY. </a:t>
            </a:r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5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687522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7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737556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3199CD-3E1B-4AE6-990F-76F925F5EA9F}" type="slidenum">
              <a:rPr lang="x-none" smtClean="0"/>
              <a:t>8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72145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8250" y="6434603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19C72E6F-2A4C-44B7-9F26-F2D98ACEF72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80746F69-34CC-4EDB-A328-20832952336C}"/>
              </a:ext>
            </a:extLst>
          </p:cNvPr>
          <p:cNvGrpSpPr/>
          <p:nvPr userDrawn="1"/>
        </p:nvGrpSpPr>
        <p:grpSpPr>
          <a:xfrm>
            <a:off x="384844" y="182360"/>
            <a:ext cx="2253184" cy="827090"/>
            <a:chOff x="384844" y="182360"/>
            <a:chExt cx="2253184" cy="827090"/>
          </a:xfrm>
        </p:grpSpPr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xmlns="" id="{4E53C455-0FDF-4DE6-A8D1-FF1000FFE9A5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197868" y="446638"/>
              <a:ext cx="1440160" cy="30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 eaLnBrk="1" hangingPunct="1">
                <a:lnSpc>
                  <a:spcPct val="114000"/>
                </a:lnSpc>
                <a:spcAft>
                  <a:spcPts val="0"/>
                </a:spcAft>
                <a:defRPr/>
              </a:pPr>
              <a:r>
                <a:rPr lang="en-US" sz="105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Ministry of IT &amp; Telecom</a:t>
              </a:r>
              <a:endParaRPr lang="en-US" sz="105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l" eaLnBrk="1" hangingPunct="1">
                <a:lnSpc>
                  <a:spcPct val="114000"/>
                </a:lnSpc>
                <a:spcAft>
                  <a:spcPts val="0"/>
                </a:spcAft>
                <a:defRPr/>
              </a:pPr>
              <a:r>
                <a:rPr lang="en-US" sz="1050" b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Government of Pakistan</a:t>
              </a:r>
              <a:endParaRPr lang="en-US" sz="10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" name="Picture 4" descr="Image result for gop pakistan logo">
              <a:extLst>
                <a:ext uri="{FF2B5EF4-FFF2-40B4-BE49-F238E27FC236}">
                  <a16:creationId xmlns:a16="http://schemas.microsoft.com/office/drawing/2014/main" xmlns="" id="{225DB2BD-AF7E-4EE6-ABFD-1EB3373FA96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844" y="182360"/>
              <a:ext cx="720104" cy="827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0FCC240-6590-4727-8EB6-6EC4497F55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828" y="239699"/>
            <a:ext cx="2068885" cy="71241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2A2159F-D6A9-4F42-B798-F82EB0F51AEA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19F48F57-97CC-43E7-AF32-7CB159697B4C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65DDAC27-D8EF-4958-96F5-D1CA52204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F62EBBC0-1640-4C94-AF54-EFD5C3DC6A5D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336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16" y="1669950"/>
            <a:ext cx="10353887" cy="463937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6582" y="6434603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xmlns="" id="{F029333E-ABE6-4F0B-8090-BDD32A608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95250" indent="0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79769AF-3B7E-4832-AF22-E2E8646285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601" y="2865206"/>
            <a:ext cx="2090910" cy="720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636C7A7F-3F30-4584-885F-C21A2E4C8645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E2066831-762C-4D47-8543-0F8CE5744BFB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3A5B5E91-EB3D-4697-9E5C-441678428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2B55EB4-CFDC-4DE0-BD71-9529F3BEBF61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158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D8ED0E4-95A3-436E-B3F4-071D13D6F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33972" y="2780928"/>
            <a:ext cx="7424451" cy="33123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  <a:prstGeom prst="rect">
            <a:avLst/>
          </a:prstGeom>
          <a:noFill/>
        </p:spPr>
        <p:txBody>
          <a:bodyPr anchor="b"/>
          <a:lstStyle>
            <a:lvl1pPr>
              <a:defRPr sz="5998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8250" y="6432152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FB7A10F-38A4-4A99-9DD6-43CDF1AA6E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828" y="239699"/>
            <a:ext cx="2068885" cy="71241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C1EC435E-8FBD-4F1F-9E7D-012933847734}"/>
              </a:ext>
            </a:extLst>
          </p:cNvPr>
          <p:cNvGrpSpPr/>
          <p:nvPr userDrawn="1"/>
        </p:nvGrpSpPr>
        <p:grpSpPr>
          <a:xfrm>
            <a:off x="384844" y="182360"/>
            <a:ext cx="2253184" cy="827090"/>
            <a:chOff x="384844" y="182360"/>
            <a:chExt cx="2253184" cy="827090"/>
          </a:xfrm>
        </p:grpSpPr>
        <p:sp>
          <p:nvSpPr>
            <p:cNvPr id="16" name="Text Box 11">
              <a:extLst>
                <a:ext uri="{FF2B5EF4-FFF2-40B4-BE49-F238E27FC236}">
                  <a16:creationId xmlns:a16="http://schemas.microsoft.com/office/drawing/2014/main" xmlns="" id="{69064D93-741E-4F20-A66F-C206556DDBD7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197868" y="446638"/>
              <a:ext cx="1440160" cy="30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l" eaLnBrk="1" hangingPunct="1">
                <a:lnSpc>
                  <a:spcPct val="114000"/>
                </a:lnSpc>
                <a:spcAft>
                  <a:spcPts val="0"/>
                </a:spcAft>
                <a:defRPr/>
              </a:pPr>
              <a:r>
                <a:rPr lang="en-US" sz="105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Ministry of IT &amp; Telecom</a:t>
              </a:r>
              <a:endParaRPr lang="en-US" sz="105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l" eaLnBrk="1" hangingPunct="1">
                <a:lnSpc>
                  <a:spcPct val="114000"/>
                </a:lnSpc>
                <a:spcAft>
                  <a:spcPts val="0"/>
                </a:spcAft>
                <a:defRPr/>
              </a:pPr>
              <a:r>
                <a:rPr lang="en-US" sz="1050" b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Government of Pakistan</a:t>
              </a:r>
              <a:endParaRPr lang="en-US" sz="105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7" name="Picture 4" descr="Image result for gop pakistan logo">
              <a:extLst>
                <a:ext uri="{FF2B5EF4-FFF2-40B4-BE49-F238E27FC236}">
                  <a16:creationId xmlns:a16="http://schemas.microsoft.com/office/drawing/2014/main" xmlns="" id="{BBBE5E81-F75E-4CCB-8A23-562C33FFA7F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844" y="182360"/>
              <a:ext cx="720104" cy="8270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740FE024-8BCD-4F5A-A192-71847FFEC6E5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FD038F47-3F59-4088-9B66-8EB5C83A5D0E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xmlns="" id="{7E8DDE90-9E49-45ED-BE4D-99085F8AF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F3F6D746-4787-4BD7-AE3C-1331B3CD0BD5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7373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771" y="1628800"/>
            <a:ext cx="5220000" cy="468052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70956" y="1628800"/>
            <a:ext cx="5220000" cy="4680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48250" y="6418504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399AAEF3-0188-4E40-83D7-7A6D721E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95250" indent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004046FF-9859-400D-A714-EE201CD8A014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00869BC4-CF31-4590-B055-B9FAC5AFFA72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D7601330-DB99-49A1-B52F-A9EB072B7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A8AB902F-541E-4815-8B39-54451586B0BA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EB10E6A-2175-4999-B98B-8B638D5E8F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601" y="2865206"/>
            <a:ext cx="20909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059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764" y="1681163"/>
            <a:ext cx="5220000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1764" y="2505074"/>
            <a:ext cx="5220000" cy="38042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70956" y="1681163"/>
            <a:ext cx="5220000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70956" y="2505074"/>
            <a:ext cx="5220000" cy="38042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248250" y="6418504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57F500A7-7B79-4691-9460-A6A8F31B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95250" indent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C82EE91-2776-4076-BCFA-F767CB61D6A4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0EB9FB9F-4F90-43A1-9C27-BB2C7B6FBB1B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xmlns="" id="{C88AABD6-5546-46F2-8328-9652CD39E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5DC2B89C-3893-406A-AB09-D93224DD5B13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5B250BE-1839-46FC-A02B-6ECCFD57DB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601" y="2865206"/>
            <a:ext cx="20909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9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248250" y="6434603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xmlns="" id="{F0C9A030-F9A9-4382-B26B-BD2C37062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95250" indent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23FBFD2-271E-4C10-9CBF-031AE860733A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C53765FB-1650-41F1-A399-0D2EFAC70CFB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xmlns="" id="{131E9A1C-B0CB-46B6-9EE3-4A8C677F0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E75D626A-0D0A-44AD-84F3-2D71D73E2338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9F6023C-6B75-4A22-8C1C-17E5BE647A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596" y="2865208"/>
            <a:ext cx="2090913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20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48250" y="6418504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7C023C6C-12D2-497A-AA41-621BEEB71BF1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201AE55E-ACFA-4CBC-9A77-CC61465B0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E6B63CDA-B4D1-442D-A2A1-ADDF62FEF8BF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E95DDF3-AC4E-49B6-BD3C-22B3CE39A344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685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2371" y="1631726"/>
            <a:ext cx="6170593" cy="4669657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2828" y="1639663"/>
            <a:ext cx="4361424" cy="4669657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56582" y="6419785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F6B1630A-7180-4D20-A6E5-F0F45B8E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71F9CE6-A667-4A12-A8D5-F93380CC323C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395B48E9-85C8-4B65-AD16-DCC8446987F6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C82481A5-AE38-4DBA-838B-A7F0375CA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2EE96B07-1227-4846-B68C-E233783737ED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5CB4ABEA-4704-476B-9B76-E24EA40B42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601" y="2865206"/>
            <a:ext cx="20909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5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92371" y="1646216"/>
            <a:ext cx="6170593" cy="4672583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060" y="1646216"/>
            <a:ext cx="4365192" cy="4680520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48250" y="6418504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4446FAF3-74A3-49C8-B18C-4E1BD173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A78AB210-6997-43CC-88FD-5A1355DA40C4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xmlns="" id="{4551765F-3137-4200-9947-2EE578550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9E947FDB-25E9-4C8A-8832-C054A12C9077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408362A-327F-4BE4-BD04-0969CCCAAE59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C9C5338D-6EEF-430C-AAFF-7016EEC968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601" y="2865206"/>
            <a:ext cx="20909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7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2339" y="1700808"/>
            <a:ext cx="10750625" cy="460851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48250" y="6418504"/>
            <a:ext cx="2742486" cy="365125"/>
          </a:xfrm>
        </p:spPr>
        <p:txBody>
          <a:bodyPr/>
          <a:lstStyle>
            <a:lvl1pPr>
              <a:defRPr sz="1600"/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0A46E5E5-4F15-4400-91DF-62F71F765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35596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95250" indent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D5A89B9F-21C8-47B0-B08C-90E06454A970}"/>
              </a:ext>
            </a:extLst>
          </p:cNvPr>
          <p:cNvGrpSpPr/>
          <p:nvPr userDrawn="1"/>
        </p:nvGrpSpPr>
        <p:grpSpPr>
          <a:xfrm>
            <a:off x="292727" y="6461174"/>
            <a:ext cx="1951040" cy="338554"/>
            <a:chOff x="38916" y="6514328"/>
            <a:chExt cx="1951040" cy="33855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xmlns="" id="{3A8CAFDB-6BD9-4C09-A769-6D20670D5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5115" y="6572416"/>
              <a:ext cx="564841" cy="252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5083EFC1-0B29-420B-8F00-4BCE6C824ABE}"/>
                </a:ext>
              </a:extLst>
            </p:cNvPr>
            <p:cNvSpPr txBox="1"/>
            <p:nvPr/>
          </p:nvSpPr>
          <p:spPr>
            <a:xfrm>
              <a:off x="38916" y="6514328"/>
              <a:ext cx="174157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600" dirty="0">
                  <a:solidFill>
                    <a:srgbClr val="424342"/>
                  </a:solidFill>
                </a:rPr>
                <a:t>www.ign</a:t>
              </a:r>
              <a:r>
                <a:rPr lang="en-US" sz="1600" dirty="0">
                  <a:solidFill>
                    <a:srgbClr val="F59321"/>
                  </a:solidFill>
                </a:rPr>
                <a:t>it</a:t>
              </a:r>
              <a:r>
                <a:rPr lang="en-US" sz="1600" dirty="0">
                  <a:solidFill>
                    <a:srgbClr val="424342"/>
                  </a:solidFill>
                </a:rPr>
                <a:t>e.org.pk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8BC6687-A8B2-49CB-B646-ACD481B544ED}"/>
              </a:ext>
            </a:extLst>
          </p:cNvPr>
          <p:cNvSpPr/>
          <p:nvPr userDrawn="1"/>
        </p:nvSpPr>
        <p:spPr>
          <a:xfrm>
            <a:off x="12033268" y="6415698"/>
            <a:ext cx="144000" cy="432000"/>
          </a:xfrm>
          <a:prstGeom prst="rect">
            <a:avLst/>
          </a:prstGeom>
          <a:solidFill>
            <a:srgbClr val="F593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2F12188D-17DD-421D-876E-71B1DDD45E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521601" y="2865206"/>
            <a:ext cx="209091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44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66490" y="665400"/>
            <a:ext cx="2628215" cy="5739830"/>
          </a:xfrm>
          <a:prstGeom prst="rect">
            <a:avLst/>
          </a:prstGeom>
          <a:noFill/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1844" y="665400"/>
            <a:ext cx="7732286" cy="573983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F2114-A465-4A26-99D4-ADA6223865DC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51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4130" y="30976"/>
            <a:ext cx="9495602" cy="1491566"/>
          </a:xfrm>
          <a:prstGeom prst="rect">
            <a:avLst/>
          </a:prstGeom>
          <a:solidFill>
            <a:srgbClr val="E2E2E4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339" y="1741958"/>
            <a:ext cx="115641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6418504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C835E-1C55-4E4D-8FB3-FBCE1284710F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6418504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5348" y="6432152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80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b="1" kern="1200">
          <a:solidFill>
            <a:srgbClr val="F89119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5EB6A1-77FF-4581-B5C5-CF1FAB5DC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828" y="1556792"/>
            <a:ext cx="10657185" cy="2088232"/>
          </a:xfrm>
        </p:spPr>
        <p:txBody>
          <a:bodyPr anchor="ctr">
            <a:normAutofit fontScale="90000"/>
          </a:bodyPr>
          <a:lstStyle/>
          <a:p>
            <a:r>
              <a:rPr lang="en-US" sz="5400" dirty="0"/>
              <a:t>Smart Screening for Autism Transformer Based Early Detection Using Portable Brain Imaging in Pakistan</a:t>
            </a:r>
            <a:endParaRPr lang="x-none" sz="5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08E7782-7630-41E5-8F80-C6BA79A1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72E6F-2A4C-44B7-9F26-F2D98ACEF72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Picture 5" descr="A child holding a tablet&#10;&#10;AI-generated content may be incorrect.">
            <a:extLst>
              <a:ext uri="{FF2B5EF4-FFF2-40B4-BE49-F238E27FC236}">
                <a16:creationId xmlns="" xmlns:a16="http://schemas.microsoft.com/office/drawing/2014/main" xmlns:lc="http://schemas.openxmlformats.org/drawingml/2006/lockedCanvas" id="{4E07ABD2-8B81-3741-F18C-D9EA18541B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196" y="3692334"/>
            <a:ext cx="3575384" cy="23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985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FDDE753-1486-44DD-84B6-EC37091C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71A204B2-DA0F-4C01-9C97-0267D640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Pitch</a:t>
            </a:r>
            <a:endParaRPr lang="x-none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xmlns="" id="{7A113441-C65F-4033-A28C-E40E8E96FA33}"/>
              </a:ext>
            </a:extLst>
          </p:cNvPr>
          <p:cNvSpPr txBox="1">
            <a:spLocks/>
          </p:cNvSpPr>
          <p:nvPr/>
        </p:nvSpPr>
        <p:spPr>
          <a:xfrm>
            <a:off x="1629916" y="1693649"/>
            <a:ext cx="8352930" cy="38955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424342"/>
                </a:solidFill>
              </a:rPr>
              <a:t>Our team aims to develop a low-cost, portable screening kit to help detect autism early in </a:t>
            </a:r>
            <a:r>
              <a:rPr lang="en-US" sz="2400" dirty="0" smtClean="0">
                <a:solidFill>
                  <a:srgbClr val="424342"/>
                </a:solidFill>
              </a:rPr>
              <a:t>children so </a:t>
            </a:r>
            <a:r>
              <a:rPr lang="en-US" sz="2400" dirty="0">
                <a:solidFill>
                  <a:srgbClr val="424342"/>
                </a:solidFill>
              </a:rPr>
              <a:t>they can get the right support at the right time</a:t>
            </a:r>
            <a:r>
              <a:rPr lang="en-US" sz="2400" dirty="0" smtClean="0">
                <a:solidFill>
                  <a:srgbClr val="424342"/>
                </a:solidFill>
              </a:rPr>
              <a:t>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400" dirty="0"/>
              <a:t>We’ll build an offline tablet app that connects to </a:t>
            </a:r>
            <a:r>
              <a:rPr lang="en-US" sz="2400" dirty="0" err="1"/>
              <a:t>fNIRS</a:t>
            </a:r>
            <a:r>
              <a:rPr lang="en-US" sz="2400" dirty="0"/>
              <a:t> caps and runs our autism screening model locally</a:t>
            </a:r>
            <a:endParaRPr lang="en-US" sz="2400" dirty="0" smtClean="0">
              <a:solidFill>
                <a:srgbClr val="424342"/>
              </a:solidFill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424342"/>
                </a:solidFill>
              </a:rPr>
              <a:t>Primary users: health workers, pediatric clinics, NGOs in Sindh and </a:t>
            </a:r>
            <a:r>
              <a:rPr lang="en-US" sz="2400" dirty="0" err="1">
                <a:solidFill>
                  <a:srgbClr val="424342"/>
                </a:solidFill>
              </a:rPr>
              <a:t>Balochistan</a:t>
            </a:r>
            <a:r>
              <a:rPr lang="en-US" sz="2400" dirty="0">
                <a:solidFill>
                  <a:srgbClr val="424342"/>
                </a:solidFill>
              </a:rPr>
              <a:t>. </a:t>
            </a:r>
            <a:endParaRPr lang="en-US" sz="2400" dirty="0" smtClean="0">
              <a:solidFill>
                <a:srgbClr val="424342"/>
              </a:solidFill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400" dirty="0" smtClean="0">
                <a:solidFill>
                  <a:srgbClr val="424342"/>
                </a:solidFill>
              </a:rPr>
              <a:t>Outcome</a:t>
            </a:r>
            <a:r>
              <a:rPr lang="en-US" sz="2400" dirty="0">
                <a:solidFill>
                  <a:srgbClr val="424342"/>
                </a:solidFill>
              </a:rPr>
              <a:t>: faster triage, earlier intervention, reduced travel and diagnostic delay</a:t>
            </a:r>
            <a:endParaRPr lang="en-US" sz="2400" dirty="0">
              <a:solidFill>
                <a:srgbClr val="4243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929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D95C1AD-0DCD-4277-82DB-CC028865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46633AA-FFCA-4D27-B16A-CAA50E6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080000"/>
          </a:xfrm>
        </p:spPr>
        <p:txBody>
          <a:bodyPr/>
          <a:lstStyle/>
          <a:p>
            <a:r>
              <a:rPr lang="en-US" dirty="0"/>
              <a:t>Introduction</a:t>
            </a:r>
            <a:endParaRPr lang="x-none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xmlns="" id="{DBCDC979-FE77-4C4B-BFBE-89543DFA0230}"/>
              </a:ext>
            </a:extLst>
          </p:cNvPr>
          <p:cNvSpPr txBox="1">
            <a:spLocks/>
          </p:cNvSpPr>
          <p:nvPr/>
        </p:nvSpPr>
        <p:spPr>
          <a:xfrm>
            <a:off x="405780" y="1268760"/>
            <a:ext cx="5220000" cy="271870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 smtClean="0">
                <a:solidFill>
                  <a:srgbClr val="0070C0"/>
                </a:solidFill>
              </a:rPr>
              <a:t>ORGANIZATION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/>
              <a:t>AURA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/>
              <a:t>(</a:t>
            </a:r>
            <a:r>
              <a:rPr lang="en-US" sz="2400" dirty="0"/>
              <a:t>Autism Recognition &amp; Understanding via </a:t>
            </a:r>
            <a:r>
              <a:rPr lang="en-US" sz="2400" dirty="0" smtClean="0"/>
              <a:t>AI)</a:t>
            </a:r>
            <a:endParaRPr lang="en-US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xmlns="" id="{2BE1A40D-F8C2-4C00-A722-BA17CA5BA41D}"/>
              </a:ext>
            </a:extLst>
          </p:cNvPr>
          <p:cNvSpPr txBox="1">
            <a:spLocks/>
          </p:cNvSpPr>
          <p:nvPr/>
        </p:nvSpPr>
        <p:spPr>
          <a:xfrm>
            <a:off x="5778017" y="929861"/>
            <a:ext cx="5220000" cy="33965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0C0"/>
                </a:solidFill>
              </a:rPr>
              <a:t>PROJECT TEAM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 smtClean="0"/>
              <a:t>Summaya</a:t>
            </a:r>
            <a:r>
              <a:rPr lang="en-US" sz="2400" dirty="0" smtClean="0"/>
              <a:t> </a:t>
            </a:r>
            <a:r>
              <a:rPr lang="en-US" sz="2400" dirty="0" err="1" smtClean="0"/>
              <a:t>Razzaque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 smtClean="0"/>
              <a:t>Rohma</a:t>
            </a:r>
            <a:r>
              <a:rPr lang="en-US" sz="2400" dirty="0" smtClean="0"/>
              <a:t> </a:t>
            </a:r>
            <a:r>
              <a:rPr lang="en-US" sz="2400" dirty="0" err="1" smtClean="0"/>
              <a:t>Sajid</a:t>
            </a:r>
            <a:endParaRPr lang="en-US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err="1" smtClean="0"/>
              <a:t>MUET,Jamshoro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0C0"/>
                </a:solidFill>
              </a:rPr>
              <a:t>THEMETIC AREA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 smtClean="0"/>
              <a:t>AI for Healthcare, neurodevelopmental </a:t>
            </a:r>
            <a:r>
              <a:rPr lang="en-US" sz="2400" dirty="0" err="1" smtClean="0"/>
              <a:t>screeing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xmlns="" id="{64E24B7B-946E-43D5-BF73-A140A7F14A60}"/>
              </a:ext>
            </a:extLst>
          </p:cNvPr>
          <p:cNvSpPr txBox="1">
            <a:spLocks/>
          </p:cNvSpPr>
          <p:nvPr/>
        </p:nvSpPr>
        <p:spPr>
          <a:xfrm>
            <a:off x="405780" y="4191362"/>
            <a:ext cx="10620600" cy="226197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rgbClr val="0070C0"/>
                </a:solidFill>
              </a:rPr>
              <a:t>OBJECTIVES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V</a:t>
            </a:r>
            <a:r>
              <a:rPr lang="en-US" sz="2400" dirty="0" smtClean="0"/>
              <a:t>alidate </a:t>
            </a:r>
            <a:r>
              <a:rPr lang="en-US" sz="2400" dirty="0"/>
              <a:t>cross‑modal fMRI–</a:t>
            </a:r>
            <a:r>
              <a:rPr lang="en-US" sz="2400" dirty="0" err="1"/>
              <a:t>fNIRS</a:t>
            </a:r>
            <a:r>
              <a:rPr lang="en-US" sz="2400" dirty="0"/>
              <a:t> </a:t>
            </a:r>
            <a:r>
              <a:rPr lang="en-US" sz="2400" dirty="0" smtClean="0"/>
              <a:t>mapping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D</a:t>
            </a:r>
            <a:r>
              <a:rPr lang="en-US" sz="2400" dirty="0" smtClean="0"/>
              <a:t>eploy </a:t>
            </a:r>
            <a:r>
              <a:rPr lang="en-US" sz="2400" dirty="0"/>
              <a:t>10 pilot </a:t>
            </a:r>
            <a:r>
              <a:rPr lang="en-US" sz="2400" dirty="0" smtClean="0"/>
              <a:t>kits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T</a:t>
            </a:r>
            <a:r>
              <a:rPr lang="en-US" sz="2400" dirty="0" smtClean="0"/>
              <a:t>rain </a:t>
            </a:r>
            <a:r>
              <a:rPr lang="en-US" sz="2400" dirty="0"/>
              <a:t>local health workers.</a:t>
            </a:r>
            <a:endParaRPr lang="en-US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7175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D95C1AD-0DCD-4277-82DB-CC028865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46633AA-FFCA-4D27-B16A-CAA50E6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080000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xmlns="" id="{DBCDC979-FE77-4C4B-BFBE-89543DFA0230}"/>
              </a:ext>
            </a:extLst>
          </p:cNvPr>
          <p:cNvSpPr txBox="1">
            <a:spLocks/>
          </p:cNvSpPr>
          <p:nvPr/>
        </p:nvSpPr>
        <p:spPr>
          <a:xfrm>
            <a:off x="405780" y="1244088"/>
            <a:ext cx="10620000" cy="49932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dirty="0"/>
              <a:t>Early ASD diagnosis is inaccessible outside major cities; MRI is costly and centralized. Behavioral assessments are subjective, delayed, and often culturally misaligned. Rural families lose critical early intervention windows and face financial and emotional strain</a:t>
            </a:r>
            <a:r>
              <a:rPr lang="en-US" sz="2400" dirty="0" smtClean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028" y="3068960"/>
            <a:ext cx="5688632" cy="292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590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D95C1AD-0DCD-4277-82DB-CC028865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46633AA-FFCA-4D27-B16A-CAA50E6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080000"/>
          </a:xfrm>
        </p:spPr>
        <p:txBody>
          <a:bodyPr/>
          <a:lstStyle/>
          <a:p>
            <a:r>
              <a:rPr lang="en-US" dirty="0"/>
              <a:t>The Solution to the Problem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xmlns="" id="{DBCDC979-FE77-4C4B-BFBE-89543DFA0230}"/>
              </a:ext>
            </a:extLst>
          </p:cNvPr>
          <p:cNvSpPr txBox="1">
            <a:spLocks/>
          </p:cNvSpPr>
          <p:nvPr/>
        </p:nvSpPr>
        <p:spPr>
          <a:xfrm>
            <a:off x="405780" y="1244089"/>
            <a:ext cx="10620000" cy="499322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We've trained our AI model using high-resolution fMRI data to detect early signs of autism. Now, we're shifting to </a:t>
            </a:r>
            <a:r>
              <a:rPr lang="en-US" sz="2400" dirty="0" err="1" smtClean="0"/>
              <a:t>fNIRS</a:t>
            </a:r>
            <a:r>
              <a:rPr lang="en-US" sz="2400" dirty="0" smtClean="0"/>
              <a:t> a portable and affordable technology that makes brain screening to the clinic floor.</a:t>
            </a:r>
          </a:p>
          <a:p>
            <a:pPr marL="0" indent="0">
              <a:buNone/>
            </a:pPr>
            <a:r>
              <a:rPr lang="en-US" sz="2400" dirty="0" smtClean="0"/>
              <a:t>With the right funding, we aim to launch a nationwide network of smart screening kits run by local health workers, powered by cloud-based AI, and built to identify autism early, even in the most remote areas of Pakistan.</a:t>
            </a:r>
          </a:p>
          <a:p>
            <a:pPr marL="0" indent="0">
              <a:buNone/>
            </a:pPr>
            <a:r>
              <a:rPr lang="en-US" sz="2400" dirty="0" smtClean="0"/>
              <a:t>This isn’t just </a:t>
            </a:r>
            <a:r>
              <a:rPr lang="en-US" sz="2400" dirty="0" err="1" smtClean="0"/>
              <a:t>innovation,it’s</a:t>
            </a:r>
            <a:r>
              <a:rPr lang="en-US" sz="2400" dirty="0" smtClean="0"/>
              <a:t> inclusion.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b="1" dirty="0" smtClean="0">
                <a:solidFill>
                  <a:srgbClr val="F89119"/>
                </a:solidFill>
              </a:rPr>
              <a:t>“lets </a:t>
            </a:r>
            <a:r>
              <a:rPr lang="en-US" sz="2400" b="1" dirty="0">
                <a:solidFill>
                  <a:srgbClr val="F89119"/>
                </a:solidFill>
              </a:rPr>
              <a:t>built a way to see what others </a:t>
            </a:r>
            <a:r>
              <a:rPr lang="en-US" sz="2400" b="1" dirty="0" smtClean="0">
                <a:solidFill>
                  <a:srgbClr val="F89119"/>
                </a:solidFill>
              </a:rPr>
              <a:t>miss.”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420" y="3798524"/>
            <a:ext cx="4282629" cy="261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6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B7F72DA-A1B3-4558-85F9-B125B24D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6D50ACBA-1F7E-4B0B-AF16-42D55D270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44624"/>
            <a:ext cx="11628000" cy="816639"/>
          </a:xfrm>
        </p:spPr>
        <p:txBody>
          <a:bodyPr/>
          <a:lstStyle/>
          <a:p>
            <a:r>
              <a:rPr lang="en-US" dirty="0"/>
              <a:t>AI Wrapper Technologies</a:t>
            </a:r>
            <a:endParaRPr lang="x-none" dirty="0"/>
          </a:p>
        </p:txBody>
      </p:sp>
      <p:pic>
        <p:nvPicPr>
          <p:cNvPr id="6" name="table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971" y="908721"/>
            <a:ext cx="9271905" cy="51125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931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D95C1AD-0DCD-4277-82DB-CC028865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46633AA-FFCA-4D27-B16A-CAA50E6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080000"/>
          </a:xfrm>
        </p:spPr>
        <p:txBody>
          <a:bodyPr/>
          <a:lstStyle/>
          <a:p>
            <a:r>
              <a:rPr lang="en-US" dirty="0"/>
              <a:t>Live Demo</a:t>
            </a:r>
            <a:endParaRPr lang="x-none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996080"/>
              </p:ext>
            </p:extLst>
          </p:nvPr>
        </p:nvGraphicFramePr>
        <p:xfrm>
          <a:off x="7606580" y="617247"/>
          <a:ext cx="1574581" cy="149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Packager Shell Object" showAsIcon="1" r:id="rId4" imgW="715320" imgH="394920" progId="Package">
                  <p:embed/>
                </p:oleObj>
              </mc:Choice>
              <mc:Fallback>
                <p:oleObj name="Packager Shell Object" showAsIcon="1" r:id="rId4" imgW="715320" imgH="394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06580" y="617247"/>
                        <a:ext cx="1574581" cy="1490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84206"/>
            <a:ext cx="6814492" cy="1744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982" y="2217294"/>
            <a:ext cx="3876675" cy="393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72" y="1362391"/>
            <a:ext cx="6408712" cy="243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1155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D95C1AD-0DCD-4277-82DB-CC0288652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446633AA-FFCA-4D27-B16A-CAA50E63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16" y="164089"/>
            <a:ext cx="11628000" cy="1080000"/>
          </a:xfrm>
        </p:spPr>
        <p:txBody>
          <a:bodyPr/>
          <a:lstStyle/>
          <a:p>
            <a:r>
              <a:rPr lang="en-US" dirty="0"/>
              <a:t>Impact</a:t>
            </a:r>
            <a:endParaRPr lang="x-none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xmlns="" id="{7B432B0F-9211-4A2B-8E38-D588A9CAD7B5}"/>
              </a:ext>
            </a:extLst>
          </p:cNvPr>
          <p:cNvSpPr txBox="1">
            <a:spLocks/>
          </p:cNvSpPr>
          <p:nvPr/>
        </p:nvSpPr>
        <p:spPr>
          <a:xfrm>
            <a:off x="405780" y="1268760"/>
            <a:ext cx="8568952" cy="57606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531" indent="-228531" algn="l" defTabSz="914126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59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57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720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783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846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08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1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1" algn="l" defTabSz="91412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Calibri body"/>
                <a:cs typeface="Times New Roman" pitchFamily="18" charset="0"/>
              </a:rPr>
              <a:t>Impact: Reimagining Autism Screening for Every Child</a:t>
            </a:r>
          </a:p>
          <a:p>
            <a:r>
              <a:rPr lang="en-US" sz="2400" b="1" dirty="0" smtClean="0">
                <a:latin typeface="Calibri body"/>
                <a:cs typeface="Times New Roman" pitchFamily="18" charset="0"/>
              </a:rPr>
              <a:t>Fast </a:t>
            </a:r>
            <a:r>
              <a:rPr lang="en-US" sz="2400" b="1" dirty="0">
                <a:latin typeface="Calibri body"/>
                <a:cs typeface="Times New Roman" pitchFamily="18" charset="0"/>
              </a:rPr>
              <a:t>and Easy Detection</a:t>
            </a:r>
            <a:r>
              <a:rPr lang="en-US" sz="2400" dirty="0">
                <a:latin typeface="Calibri body"/>
                <a:cs typeface="Times New Roman" pitchFamily="18" charset="0"/>
              </a:rPr>
              <a:t> Our AI system gives results in less than 10 </a:t>
            </a:r>
            <a:r>
              <a:rPr lang="en-US" sz="2400" dirty="0" smtClean="0">
                <a:latin typeface="Calibri body"/>
                <a:cs typeface="Times New Roman" pitchFamily="18" charset="0"/>
              </a:rPr>
              <a:t>minutes no </a:t>
            </a:r>
            <a:r>
              <a:rPr lang="en-US" sz="2400" dirty="0">
                <a:latin typeface="Calibri body"/>
                <a:cs typeface="Times New Roman" pitchFamily="18" charset="0"/>
              </a:rPr>
              <a:t>specialist needed.</a:t>
            </a:r>
          </a:p>
          <a:p>
            <a:r>
              <a:rPr lang="en-US" sz="2400" b="1" dirty="0" smtClean="0">
                <a:latin typeface="Calibri body"/>
                <a:cs typeface="Times New Roman" pitchFamily="18" charset="0"/>
              </a:rPr>
              <a:t>Works </a:t>
            </a:r>
            <a:r>
              <a:rPr lang="en-US" sz="2400" b="1" dirty="0">
                <a:latin typeface="Calibri body"/>
                <a:cs typeface="Times New Roman" pitchFamily="18" charset="0"/>
              </a:rPr>
              <a:t>Anywhere</a:t>
            </a:r>
            <a:r>
              <a:rPr lang="en-US" sz="2400" dirty="0">
                <a:latin typeface="Calibri body"/>
                <a:cs typeface="Times New Roman" pitchFamily="18" charset="0"/>
              </a:rPr>
              <a:t> The app runs without internet and supports Urdu, perfect for remote clinics.</a:t>
            </a:r>
          </a:p>
          <a:p>
            <a:r>
              <a:rPr lang="en-US" sz="2400" b="1" dirty="0" smtClean="0">
                <a:latin typeface="Calibri body"/>
                <a:cs typeface="Times New Roman" pitchFamily="18" charset="0"/>
              </a:rPr>
              <a:t>Small </a:t>
            </a:r>
            <a:r>
              <a:rPr lang="en-US" sz="2400" b="1" dirty="0">
                <a:latin typeface="Calibri body"/>
                <a:cs typeface="Times New Roman" pitchFamily="18" charset="0"/>
              </a:rPr>
              <a:t>Kit, Big Reach</a:t>
            </a:r>
            <a:r>
              <a:rPr lang="en-US" sz="2400" dirty="0">
                <a:latin typeface="Calibri body"/>
                <a:cs typeface="Times New Roman" pitchFamily="18" charset="0"/>
              </a:rPr>
              <a:t> A portable </a:t>
            </a:r>
            <a:r>
              <a:rPr lang="en-US" sz="2400" dirty="0" err="1" smtClean="0">
                <a:latin typeface="Calibri body"/>
                <a:cs typeface="Times New Roman" pitchFamily="18" charset="0"/>
              </a:rPr>
              <a:t>fNIRS</a:t>
            </a:r>
            <a:r>
              <a:rPr lang="en-US" sz="2400" dirty="0" smtClean="0">
                <a:latin typeface="Calibri body"/>
                <a:cs typeface="Times New Roman" pitchFamily="18" charset="0"/>
              </a:rPr>
              <a:t> device </a:t>
            </a:r>
            <a:r>
              <a:rPr lang="en-US" sz="2400" dirty="0">
                <a:latin typeface="Calibri body"/>
                <a:cs typeface="Times New Roman" pitchFamily="18" charset="0"/>
              </a:rPr>
              <a:t>and smart app fit in a </a:t>
            </a:r>
            <a:r>
              <a:rPr lang="en-US" sz="2400" dirty="0" smtClean="0">
                <a:latin typeface="Calibri body"/>
                <a:cs typeface="Times New Roman" pitchFamily="18" charset="0"/>
              </a:rPr>
              <a:t>backpack ready </a:t>
            </a:r>
            <a:r>
              <a:rPr lang="en-US" sz="2400" dirty="0">
                <a:latin typeface="Calibri body"/>
                <a:cs typeface="Times New Roman" pitchFamily="18" charset="0"/>
              </a:rPr>
              <a:t>to go anywhere.</a:t>
            </a:r>
          </a:p>
          <a:p>
            <a:r>
              <a:rPr lang="en-US" sz="2400" b="1" dirty="0" smtClean="0">
                <a:latin typeface="Calibri body"/>
                <a:cs typeface="Times New Roman" pitchFamily="18" charset="0"/>
              </a:rPr>
              <a:t>Empowering </a:t>
            </a:r>
            <a:r>
              <a:rPr lang="en-US" sz="2400" b="1" dirty="0">
                <a:latin typeface="Calibri body"/>
                <a:cs typeface="Times New Roman" pitchFamily="18" charset="0"/>
              </a:rPr>
              <a:t>Local Health Workers</a:t>
            </a:r>
            <a:r>
              <a:rPr lang="en-US" sz="2400" dirty="0">
                <a:latin typeface="Calibri body"/>
                <a:cs typeface="Times New Roman" pitchFamily="18" charset="0"/>
              </a:rPr>
              <a:t> Clinics can now do </a:t>
            </a:r>
            <a:r>
              <a:rPr lang="en-US" sz="2400" dirty="0" smtClean="0">
                <a:latin typeface="Calibri body"/>
                <a:cs typeface="Times New Roman" pitchFamily="18" charset="0"/>
              </a:rPr>
              <a:t>brain based </a:t>
            </a:r>
            <a:r>
              <a:rPr lang="en-US" sz="2400" dirty="0">
                <a:latin typeface="Calibri body"/>
                <a:cs typeface="Times New Roman" pitchFamily="18" charset="0"/>
              </a:rPr>
              <a:t>autism screening without sending children to big hospitals.</a:t>
            </a:r>
          </a:p>
          <a:p>
            <a:r>
              <a:rPr lang="en-US" sz="2400" b="1" dirty="0" smtClean="0">
                <a:latin typeface="Calibri body"/>
                <a:cs typeface="Times New Roman" pitchFamily="18" charset="0"/>
              </a:rPr>
              <a:t>Equal Chance for Every Child</a:t>
            </a:r>
            <a:r>
              <a:rPr lang="en-US" sz="2400" dirty="0" smtClean="0">
                <a:latin typeface="Calibri body"/>
                <a:cs typeface="Times New Roman" pitchFamily="18" charset="0"/>
              </a:rPr>
              <a:t> no </a:t>
            </a:r>
            <a:r>
              <a:rPr lang="en-US" sz="2400" dirty="0">
                <a:latin typeface="Calibri body"/>
                <a:cs typeface="Times New Roman" pitchFamily="18" charset="0"/>
              </a:rPr>
              <a:t>matter where they </a:t>
            </a:r>
            <a:r>
              <a:rPr lang="en-US" sz="2400" dirty="0" smtClean="0">
                <a:latin typeface="Calibri body"/>
                <a:cs typeface="Times New Roman" pitchFamily="18" charset="0"/>
              </a:rPr>
              <a:t>live deserves </a:t>
            </a:r>
            <a:r>
              <a:rPr lang="en-US" sz="2400" dirty="0">
                <a:latin typeface="Calibri body"/>
                <a:cs typeface="Times New Roman" pitchFamily="18" charset="0"/>
              </a:rPr>
              <a:t>early support and care.</a:t>
            </a:r>
          </a:p>
        </p:txBody>
      </p:sp>
    </p:spTree>
    <p:extLst>
      <p:ext uri="{BB962C8B-B14F-4D97-AF65-F5344CB8AC3E}">
        <p14:creationId xmlns:p14="http://schemas.microsoft.com/office/powerpoint/2010/main" val="393824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3707565-6BCA-454E-A09A-2E6C7154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xmlns="" id="{5608F7E3-8CEF-4F46-A21C-B0DCF7AEC2D9}"/>
              </a:ext>
            </a:extLst>
          </p:cNvPr>
          <p:cNvSpPr txBox="1">
            <a:spLocks/>
          </p:cNvSpPr>
          <p:nvPr/>
        </p:nvSpPr>
        <p:spPr>
          <a:xfrm>
            <a:off x="3646140" y="1700808"/>
            <a:ext cx="5118763" cy="711149"/>
          </a:xfrm>
          <a:prstGeom prst="rect">
            <a:avLst/>
          </a:prstGeom>
        </p:spPr>
        <p:txBody>
          <a:bodyPr/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99" b="1" kern="1200">
                <a:solidFill>
                  <a:srgbClr val="F8911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/>
              <a:t>Thank You!</a:t>
            </a:r>
            <a:endParaRPr lang="x-none" sz="4800" dirty="0"/>
          </a:p>
        </p:txBody>
      </p:sp>
    </p:spTree>
    <p:extLst>
      <p:ext uri="{BB962C8B-B14F-4D97-AF65-F5344CB8AC3E}">
        <p14:creationId xmlns:p14="http://schemas.microsoft.com/office/powerpoint/2010/main" val="201306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1564227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Take your audience through a digital tunnel where they'll  burst through to the other side and see the information you want to present. Show them lists, charts, tables, SmartArt,  and pictures using a variety of layouts in widescreen (16X9) format. This design works well for subjects on science and technology, computers, communication, and more.   
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2012-05-11T02:04:00+00:00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TP102895246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835483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REDMOND\v-vaddu</DisplayName>
        <AccountId>2567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0E41224-0370-4595-877C-23316CD80004}">
  <ds:schemaRefs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4873beb7-5857-4685-be1f-d57550cc96c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4228E6B-D70C-44BB-A81F-A245495F61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CCB507-0646-4A50-A4F7-7F385079D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21331</TotalTime>
  <Words>435</Words>
  <Application>Microsoft Office PowerPoint</Application>
  <PresentationFormat>Custom</PresentationFormat>
  <Paragraphs>70</Paragraphs>
  <Slides>9</Slides>
  <Notes>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Office Theme</vt:lpstr>
      <vt:lpstr>Package</vt:lpstr>
      <vt:lpstr>Smart Screening for Autism Transformer Based Early Detection Using Portable Brain Imaging in Pakistan</vt:lpstr>
      <vt:lpstr>Pitch</vt:lpstr>
      <vt:lpstr>Introduction</vt:lpstr>
      <vt:lpstr>The Problem</vt:lpstr>
      <vt:lpstr>The Solution to the Problem</vt:lpstr>
      <vt:lpstr>AI Wrapper Technologies</vt:lpstr>
      <vt:lpstr>Live Demo</vt:lpstr>
      <vt:lpstr>Impact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Sohail Tanveer</dc:creator>
  <cp:lastModifiedBy>DELL 5270</cp:lastModifiedBy>
  <cp:revision>908</cp:revision>
  <cp:lastPrinted>2018-01-04T10:46:38Z</cp:lastPrinted>
  <dcterms:created xsi:type="dcterms:W3CDTF">2017-01-19T14:47:00Z</dcterms:created>
  <dcterms:modified xsi:type="dcterms:W3CDTF">2025-10-29T23:14:13Z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